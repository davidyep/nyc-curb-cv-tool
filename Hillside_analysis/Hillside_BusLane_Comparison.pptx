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6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6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Hillside Avenue Bus 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800" b="1">
                <a:solidFill>
                  <a:srgbClr val="78C143"/>
                </a:solidFill>
                <a:latin typeface="Arial"/>
              </a:rPr>
              <a:t>Pre / Post Survey Comparison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794760"/>
            <a:ext cx="3108959" cy="0"/>
          </a:xfrm>
          <a:prstGeom prst="bentConnector3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977639"/>
            <a:ext cx="1005840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rial"/>
              </a:rPr>
              <a:t>2024 &amp; 2026 Post-Implementation Intercept Surveys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0584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CFE6D8"/>
                </a:solidFill>
                <a:latin typeface="Arial"/>
              </a:rPr>
              <a:t>Prepared for NYC DOT  |  Comparative Analysis of Bus-Lane Opinions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6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6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Pedestrian Intercept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000" b="0">
                <a:solidFill>
                  <a:srgbClr val="78C143"/>
                </a:solidFill>
                <a:latin typeface="Arial"/>
              </a:rPr>
              <a:t>What changed between 2024 and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703320"/>
            <a:ext cx="3108959" cy="0"/>
          </a:xfrm>
          <a:prstGeom prst="bentConnector3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3931920"/>
            <a:ext cx="105156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Participation &amp; Demographics   |   Getting to Hillside   |   Bus Trip Satisfaction   |   Bus Lines &amp; Ride Issues   |   Overall Transportation Issues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384048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>
                <a:solidFill>
                  <a:srgbClr val="046B38"/>
                </a:solidFill>
                <a:latin typeface="Arial"/>
              </a:rPr>
              <a:t>Survey Participation &amp; Demographics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2926080" cy="0"/>
          </a:xfrm>
          <a:prstGeom prst="bentConnector3">
            <a:avLst/>
          </a:prstGeom>
          <a:ln w="22225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0" y="457200"/>
            <a:ext cx="475488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By the Numbers  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Two post-implementation waves surveyed the same corridor. 2026 skews notably older, so subgroup filtering matters for any pre/post claim.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210312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3000" b="1">
                <a:solidFill>
                  <a:srgbClr val="046B38"/>
                </a:solidFill>
                <a:latin typeface="Arial"/>
              </a:rPr>
              <a:t>440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76891"/>
            <a:ext cx="21031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2024 respondents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234440"/>
            <a:ext cx="210312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3000" b="1">
                <a:solidFill>
                  <a:srgbClr val="E88024"/>
                </a:solidFill>
                <a:latin typeface="Arial"/>
              </a:rPr>
              <a:t>385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676891"/>
            <a:ext cx="210312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2026 respondents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234440"/>
            <a:ext cx="21945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600" b="1">
                <a:solidFill>
                  <a:srgbClr val="096495"/>
                </a:solidFill>
                <a:latin typeface="Arial"/>
              </a:rPr>
              <a:t>91–93%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617898"/>
            <a:ext cx="21945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Surveyed 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234440"/>
            <a:ext cx="22860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600" b="1">
                <a:solidFill>
                  <a:srgbClr val="841434"/>
                </a:solidFill>
                <a:latin typeface="Arial"/>
              </a:rPr>
              <a:t>66% → 76%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617898"/>
            <a:ext cx="228600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Rated survey “effective”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234440"/>
            <a:ext cx="21945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600" b="1">
                <a:solidFill>
                  <a:srgbClr val="046B38"/>
                </a:solidFill>
                <a:latin typeface="Arial"/>
              </a:rPr>
              <a:t>~80%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617898"/>
            <a:ext cx="219456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Visit Hillside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743200"/>
            <a:ext cx="26517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" y="3054096"/>
            <a:ext cx="259689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3108960"/>
          <a:ext cx="2651760" cy="205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640080"/>
                <a:gridCol w="640080"/>
              </a:tblGrid>
              <a:tr h="2286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Under 18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18-24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25-34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35-44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45-54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55-64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65+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Prefer not to say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383280" y="2743200"/>
            <a:ext cx="26517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Gender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410712" y="3054096"/>
            <a:ext cx="259689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383280" y="3108960"/>
          <a:ext cx="265176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640080"/>
                <a:gridCol w="640080"/>
              </a:tblGrid>
              <a:tr h="2286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Man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53%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Woman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41%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46%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Non-binary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Prefer not say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309360" y="2743200"/>
            <a:ext cx="26517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Race / Ethnicity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336792" y="3054096"/>
            <a:ext cx="259689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309360" y="3108960"/>
          <a:ext cx="265176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594360"/>
                <a:gridCol w="594360"/>
              </a:tblGrid>
              <a:tr h="2286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Asian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47%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Hispanic/Latino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22%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White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Prefer not say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9235440" y="2743200"/>
            <a:ext cx="26517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Top Home ZIP Codes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262872" y="3054096"/>
            <a:ext cx="2596895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9235440" y="3108960"/>
          <a:ext cx="2651760" cy="1143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11432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11423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11435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22222"/>
                          </a:solidFill>
                          <a:latin typeface="Arial"/>
                        </a:rPr>
                        <a:t>11427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96495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E88024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28" name="Rectangle 27"/>
          <p:cNvSpPr/>
          <p:nvPr/>
        </p:nvSpPr>
        <p:spPr>
          <a:xfrm>
            <a:off x="9235440" y="6007607"/>
            <a:ext cx="146304" cy="14630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19" y="595274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6007607"/>
            <a:ext cx="146304" cy="14630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595274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" y="6547104"/>
            <a:ext cx="86868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Arial"/>
              </a:rPr>
              <a:t>Source: NYC DOT Hillside Avenue intercept surveys, 2024 (n=440) and 2026 (n=385). Displayed values rounded; multi-select demographics counted per respondent.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384048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>
                <a:solidFill>
                  <a:srgbClr val="046B38"/>
                </a:solidFill>
                <a:latin typeface="Arial"/>
              </a:rPr>
              <a:t>Getting to Hillside Avenue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2926080" cy="0"/>
          </a:xfrm>
          <a:prstGeom prst="bentConnector3">
            <a:avLst/>
          </a:prstGeom>
          <a:ln w="22225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457200"/>
            <a:ext cx="3200400" cy="8229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% of respondents. </a:t>
            </a:r>
            <a:r>
              <a:rPr sz="1100" b="0">
                <a:solidFill>
                  <a:srgbClr val="222222"/>
                </a:solidFill>
                <a:latin typeface="Arial"/>
              </a:rPr>
              <a:t>Modes are select-all-that-apply; travel time is single-choice.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Modes typically used to reach Hillside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" y="1636776"/>
            <a:ext cx="543153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1783080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Bus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4755" y="1828800"/>
            <a:ext cx="3090745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12076" y="1792224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67%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84755" y="2089404"/>
            <a:ext cx="2919551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0882" y="2052828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50008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Walk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4755" y="2395727"/>
            <a:ext cx="2123730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5061" y="2359151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46%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84755" y="2656332"/>
            <a:ext cx="2415223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6554" y="2619756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52%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16936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Subway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84755" y="2962656"/>
            <a:ext cx="2017312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8643" y="2926079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44%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84755" y="3223260"/>
            <a:ext cx="1526865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48196" y="3186684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483863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Personal car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4755" y="3529583"/>
            <a:ext cx="860596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81927" y="3493007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19%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4755" y="3790187"/>
            <a:ext cx="1031790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3121" y="3753611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22%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50791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Bike/E-Scooter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84755" y="4096511"/>
            <a:ext cx="337761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59092" y="4059935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4755" y="4357116"/>
            <a:ext cx="166567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87898" y="4320540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617720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For-hire (Uber/Taxi)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84755" y="4663440"/>
            <a:ext cx="222089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43420" y="4626864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84755" y="4924044"/>
            <a:ext cx="300746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22077" y="4887468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6%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184648"/>
            <a:ext cx="1927555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Dropped off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4755" y="5230368"/>
            <a:ext cx="208208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29540" y="5193792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4%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384755" y="5490972"/>
            <a:ext cx="263731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85062" y="5454396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824727"/>
            <a:ext cx="146304" cy="14630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76986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2024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8760" y="5824727"/>
            <a:ext cx="146304" cy="14630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691640" y="5769864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1325880"/>
            <a:ext cx="50292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Travel time to Hillside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702552" y="1636776"/>
            <a:ext cx="497433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675120" y="1783080"/>
            <a:ext cx="1709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1 - 15 minutes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85048" y="1828800"/>
            <a:ext cx="2454920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876544" y="1792224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52%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85048" y="2089404"/>
            <a:ext cx="2403287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4911" y="2052828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51%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2350008"/>
            <a:ext cx="1709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16 - 30 minutes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85048" y="2395727"/>
            <a:ext cx="1070213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91837" y="2359151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23%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85048" y="2656332"/>
            <a:ext cx="1450421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72045" y="2619756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31%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2916936"/>
            <a:ext cx="1709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31 - 45 minutes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385048" y="2962656"/>
            <a:ext cx="577352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98976" y="2926079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12%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85048" y="3223260"/>
            <a:ext cx="319186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40810" y="3186684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3483863"/>
            <a:ext cx="1709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46 - 60 minutes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85048" y="3529583"/>
            <a:ext cx="370819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92443" y="3493007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8%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85048" y="3790187"/>
            <a:ext cx="258165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79789" y="3753611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6%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4050791"/>
            <a:ext cx="1709928" cy="566928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60+ minutes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385048" y="4096511"/>
            <a:ext cx="215920" cy="21488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37544" y="4059935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5%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385048" y="4357116"/>
            <a:ext cx="267553" cy="21488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89177" y="4320540"/>
            <a:ext cx="548640" cy="288036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6%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75120" y="4892040"/>
            <a:ext cx="5029200" cy="9144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Takeaway.  </a:t>
            </a:r>
            <a:r>
              <a:rPr sz="1100" b="0">
                <a:solidFill>
                  <a:srgbClr val="222222"/>
                </a:solidFill>
                <a:latin typeface="Arial"/>
              </a:rPr>
              <a:t>Access stayed hyper-local and bus-dominated. Walking rose and subway use fell (44%→33%); trips of 16–30 min grew as sub-15-min trips held steady.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29768" y="6547104"/>
            <a:ext cx="86868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Arial"/>
              </a:rPr>
              <a:t>Source: NYC DOT Hillside Avenue intercept surveys, 2024 (n=440) and 2026 (n=385). Displayed values rounded.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384048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>
                <a:solidFill>
                  <a:srgbClr val="046B38"/>
                </a:solidFill>
                <a:latin typeface="Arial"/>
              </a:rPr>
              <a:t>Bus Trip Satisfaction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2926080" cy="0"/>
          </a:xfrm>
          <a:prstGeom prst="bentConnector3">
            <a:avLst/>
          </a:prstGeom>
          <a:ln w="22225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457200"/>
            <a:ext cx="4480560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Asked only of respondents who rode the bus </a:t>
            </a:r>
            <a:r>
              <a:rPr sz="1100" b="0">
                <a:solidFill>
                  <a:srgbClr val="222222"/>
                </a:solidFill>
                <a:latin typeface="Arial"/>
              </a:rPr>
              <a:t>(2024 n=176, 2026 n=148). Net = % Satisfied/Very satisfied minus % Dissatisfied/Very dissatisfied.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400800" cy="1234440"/>
          </a:xfrm>
          <a:prstGeom prst="rect">
            <a:avLst/>
          </a:prstGeom>
          <a:solidFill>
            <a:srgbClr val="EF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3000" b="1">
                <a:solidFill>
                  <a:srgbClr val="096495"/>
                </a:solidFill>
                <a:latin typeface="Arial"/>
              </a:rPr>
              <a:t>+18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59771"/>
            <a:ext cx="192024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2024 net satisfaction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17320"/>
            <a:ext cx="192024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3000" b="1">
                <a:solidFill>
                  <a:srgbClr val="E88024"/>
                </a:solidFill>
                <a:latin typeface="Arial"/>
              </a:rPr>
              <a:t>+41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1859771"/>
            <a:ext cx="192024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2026 net satisfaction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201168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2600" b="1">
                <a:solidFill>
                  <a:srgbClr val="046B38"/>
                </a:solidFill>
                <a:latin typeface="Arial"/>
              </a:rPr>
              <a:t>+23 pts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00778"/>
            <a:ext cx="2011680" cy="5029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Arial"/>
              </a:rPr>
              <a:t>2024 → 2026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630936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222222"/>
                </a:solidFill>
                <a:latin typeface="Arial"/>
              </a:rPr>
              <a:t>Mean rating </a:t>
            </a:r>
            <a:r>
              <a:rPr sz="1100" b="0">
                <a:solidFill>
                  <a:srgbClr val="222222"/>
                </a:solidFill>
                <a:latin typeface="Arial"/>
              </a:rPr>
              <a:t>3.30 → 3.50   ·   </a:t>
            </a:r>
            <a:r>
              <a:rPr sz="1100" b="1">
                <a:solidFill>
                  <a:srgbClr val="222222"/>
                </a:solidFill>
                <a:latin typeface="Arial"/>
              </a:rPr>
              <a:t>Satisfied/Very-satisfied share </a:t>
            </a:r>
            <a:r>
              <a:rPr sz="1100" b="0">
                <a:solidFill>
                  <a:srgbClr val="222222"/>
                </a:solidFill>
                <a:latin typeface="Arial"/>
              </a:rPr>
              <a:t>46% → 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64008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Rating distribution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" y="3739896"/>
            <a:ext cx="634593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394960" y="3511296"/>
            <a:ext cx="146304" cy="146304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456432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511296"/>
            <a:ext cx="146304" cy="146304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456432"/>
            <a:ext cx="822960" cy="228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000" b="1">
                <a:solidFill>
                  <a:srgbClr val="222222"/>
                </a:solidFill>
                <a:latin typeface="Arial"/>
              </a:rPr>
              <a:t>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217627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Very dissatisfied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33472" y="3886200"/>
            <a:ext cx="1083401" cy="160020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53449" y="384962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13%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33472" y="4091939"/>
            <a:ext cx="893185" cy="160020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3233" y="4055363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11%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217627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Dissatisfied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33472" y="4343400"/>
            <a:ext cx="1223995" cy="160020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94043" y="430682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15%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33472" y="4549140"/>
            <a:ext cx="785672" cy="160020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5720" y="451256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754880"/>
            <a:ext cx="217627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Neutral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33472" y="4800600"/>
            <a:ext cx="2208154" cy="160020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78202" y="476402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27%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33472" y="5006340"/>
            <a:ext cx="1563075" cy="160020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33123" y="496976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19%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217627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Satisfied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33472" y="5257800"/>
            <a:ext cx="2017938" cy="160020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7986" y="522122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24%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33472" y="5463540"/>
            <a:ext cx="3349447" cy="160020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19495" y="542696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40%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669280"/>
            <a:ext cx="2176272" cy="4572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Arial"/>
              </a:rPr>
              <a:t>Very satisfied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33472" y="5715000"/>
            <a:ext cx="1736750" cy="160020"/>
          </a:xfrm>
          <a:prstGeom prst="rect">
            <a:avLst/>
          </a:prstGeom>
          <a:solidFill>
            <a:srgbClr val="0964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06798" y="567842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096495"/>
                </a:solidFill>
                <a:latin typeface="Arial"/>
              </a:rPr>
              <a:t>21%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33472" y="5920740"/>
            <a:ext cx="1678858" cy="160020"/>
          </a:xfrm>
          <a:prstGeom prst="rect">
            <a:avLst/>
          </a:prstGeom>
          <a:solidFill>
            <a:srgbClr val="E88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48906" y="5884164"/>
            <a:ext cx="548640" cy="233172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900" b="1">
                <a:solidFill>
                  <a:srgbClr val="E88024"/>
                </a:solidFill>
                <a:latin typeface="Arial"/>
              </a:rPr>
              <a:t>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1463040"/>
            <a:ext cx="4480560" cy="448056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43800" y="1600200"/>
            <a:ext cx="4023360" cy="5486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What moved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2148840"/>
            <a:ext cx="4069080" cy="2743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Arial"/>
              </a:rPr>
              <a:t>Dissatisfaction fell (28% → 20%) and the Satisfied tier jumped 24% → 40%, lifting net satisfaction 23 points — the clearest positive shift in the survey.</a:t>
            </a:r>
          </a:p>
          <a:p>
            <a:pPr algn="l"/>
            <a:r>
              <a:rPr sz="600" b="0">
                <a:solidFill>
                  <a:srgbClr val="222222"/>
                </a:solidFill>
                <a:latin typeface="Arial"/>
              </a:rPr>
              <a:t/>
            </a:r>
          </a:p>
          <a:p>
            <a:pPr algn="l"/>
            <a:r>
              <a:rPr sz="1200" b="1">
                <a:solidFill>
                  <a:srgbClr val="841434"/>
                </a:solidFill>
                <a:latin typeface="Arial"/>
              </a:rPr>
              <a:t>Caveat: </a:t>
            </a:r>
            <a:r>
              <a:rPr sz="1200" b="0">
                <a:solidFill>
                  <a:srgbClr val="222222"/>
                </a:solidFill>
                <a:latin typeface="Arial"/>
              </a:rPr>
              <a:t>the 2026 rider sample is older and smaller; read the gain alongside the sample-composition differences on slide 3.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43800" y="4892040"/>
            <a:ext cx="4069080" cy="9144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“The bus service is good”</a:t>
            </a:r>
          </a:p>
          <a:p>
            <a:pPr algn="l"/>
            <a:r>
              <a:rPr sz="1000" b="0">
                <a:solidFill>
                  <a:srgbClr val="7F7F7F"/>
                </a:solidFill>
                <a:latin typeface="Arial"/>
              </a:rPr>
              <a:t>— 2026 respondent, open response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9768" y="6547104"/>
            <a:ext cx="86868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Arial"/>
              </a:rPr>
              <a:t>Source: NYC DOT Hillside Avenue intercept surveys. Bus riders only. Displayed values rounded.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384048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>
                <a:solidFill>
                  <a:srgbClr val="046B38"/>
                </a:solidFill>
                <a:latin typeface="Arial"/>
              </a:rPr>
              <a:t>Bus Lines &amp; Ride Issues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2926080" cy="0"/>
          </a:xfrm>
          <a:prstGeom prst="bentConnector3">
            <a:avLst/>
          </a:prstGeom>
          <a:ln w="22225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931920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Write-in “other” routes are parsed and merged with the checkbox lines (marked *). </a:t>
            </a:r>
            <a:r>
              <a:rPr sz="1100" b="0">
                <a:solidFill>
                  <a:srgbClr val="222222"/>
                </a:solidFill>
                <a:latin typeface="Arial"/>
              </a:rPr>
              <a:t>Base = riders naming ≥1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48640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Bus lines used today  (2024 n=173 · 2026 n=148)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" y="1682496"/>
            <a:ext cx="543153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783080"/>
          <a:ext cx="384048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822960"/>
                <a:gridCol w="822960"/>
              </a:tblGrid>
              <a:tr h="25603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Q43*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45%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36%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Q1*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Q36*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Q17*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Q76*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Q2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5%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Q77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Q3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6%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Q30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Other lines (tail)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709160"/>
            <a:ext cx="4023360" cy="1463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Q1 usage nearly doubled </a:t>
            </a:r>
            <a:r>
              <a:rPr sz="1100" b="0">
                <a:solidFill>
                  <a:srgbClr val="222222"/>
                </a:solidFill>
                <a:latin typeface="Arial"/>
              </a:rPr>
              <a:t>(14%→28%) and Q2 rose (5%→12%), while Q43 eased and Q30 nearly vanished — consistent with Queens bus-network route changes between waves. Parsing write-ins shrank the unclassified tail from 24% to 12%.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371600"/>
            <a:ext cx="310896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Biggest issue with bus ride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148072" y="1682496"/>
            <a:ext cx="3054095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120640" y="1783080"/>
          <a:ext cx="3666744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0280"/>
                <a:gridCol w="713232"/>
                <a:gridCol w="713232"/>
              </a:tblGrid>
              <a:tr h="31089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2024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anchor="ctr" marL="45720" marR="36576" marT="9144" marB="9144">
                    <a:solidFill>
                      <a:srgbClr val="046B3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No issues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31%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38%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Waited too long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Bus was too crowded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Bus was slow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8%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Bunching (multiple at once)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22222"/>
                          </a:solidFill>
                          <a:latin typeface="Arial"/>
                        </a:rPr>
                        <a:t>Other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96495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88024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anchor="ctr" marL="45720" marR="36576" marT="9144" marB="9144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120640" y="4023360"/>
            <a:ext cx="3566160" cy="13716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“No issues” rose </a:t>
            </a:r>
            <a:r>
              <a:rPr sz="1100" b="0">
                <a:solidFill>
                  <a:srgbClr val="222222"/>
                </a:solidFill>
                <a:latin typeface="Arial"/>
              </a:rPr>
              <a:t>(31%→38%) and crowding complaints eased, though “waited too long” held at 25% — wait time remains the top actionable pain point.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371600"/>
            <a:ext cx="2606040" cy="2743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200" b="1">
                <a:solidFill>
                  <a:srgbClr val="046B38"/>
                </a:solidFill>
                <a:latin typeface="Arial"/>
              </a:rPr>
              <a:t>Notable line shifts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71432" y="1682496"/>
            <a:ext cx="2551176" cy="0"/>
          </a:xfrm>
          <a:prstGeom prst="bentConnector3">
            <a:avLst/>
          </a:prstGeom>
          <a:ln w="12700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144000" y="1828800"/>
            <a:ext cx="12801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1828800"/>
            <a:ext cx="13258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600" b="1">
                <a:solidFill>
                  <a:srgbClr val="78C143"/>
                </a:solidFill>
                <a:latin typeface="Arial"/>
              </a:rPr>
              <a:t>+14 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606040"/>
            <a:ext cx="12801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606040"/>
            <a:ext cx="13258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600" b="1">
                <a:solidFill>
                  <a:srgbClr val="78C143"/>
                </a:solidFill>
                <a:latin typeface="Arial"/>
              </a:rPr>
              <a:t>+7 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383280"/>
            <a:ext cx="12801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Q43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3383280"/>
            <a:ext cx="13258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600" b="1">
                <a:solidFill>
                  <a:srgbClr val="E43825"/>
                </a:solidFill>
                <a:latin typeface="Arial"/>
              </a:rPr>
              <a:t>−9 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160520"/>
            <a:ext cx="12801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Q30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4160520"/>
            <a:ext cx="13258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600" b="1">
                <a:solidFill>
                  <a:srgbClr val="E43825"/>
                </a:solidFill>
                <a:latin typeface="Arial"/>
              </a:rPr>
              <a:t>−6 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4937760"/>
            <a:ext cx="128016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  <a:latin typeface="Arial"/>
              </a:rPr>
              <a:t>Other tail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4937760"/>
            <a:ext cx="1325880" cy="54864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600" b="1">
                <a:solidFill>
                  <a:srgbClr val="096495"/>
                </a:solidFill>
                <a:latin typeface="Arial"/>
              </a:rPr>
              <a:t>−12 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6547104"/>
            <a:ext cx="86868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Arial"/>
              </a:rPr>
              <a:t>Source: NYC DOT Hillside Avenue intercept surveys. Bus riders only. Bus lines normalized (checkbox + parsed write-ins). Displayed values rounded.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384048"/>
            <a:ext cx="8229600" cy="45720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2400" b="1">
                <a:solidFill>
                  <a:srgbClr val="046B38"/>
                </a:solidFill>
                <a:latin typeface="Arial"/>
              </a:rPr>
              <a:t>Overall Transportation Issues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896112"/>
            <a:ext cx="2926080" cy="0"/>
          </a:xfrm>
          <a:prstGeom prst="bentConnector3">
            <a:avLst/>
          </a:prstGeom>
          <a:ln w="22225">
            <a:solidFill>
              <a:srgbClr val="046B3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155680" y="6455664"/>
            <a:ext cx="822960" cy="32004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457200"/>
            <a:ext cx="4846320" cy="8686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1">
                <a:solidFill>
                  <a:srgbClr val="046B38"/>
                </a:solidFill>
                <a:latin typeface="Arial"/>
              </a:rPr>
              <a:t>“What is the biggest transportation issue along Hillside Avenue?”  </a:t>
            </a:r>
            <a:r>
              <a:rPr sz="1100" b="0">
                <a:solidFill>
                  <a:srgbClr val="222222"/>
                </a:solidFill>
                <a:latin typeface="Arial"/>
              </a:rPr>
              <a:t>Open-ended; 2024 n=440, 2026 n=339 responses categorized by shared theme.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1188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90472"/>
            <a:ext cx="1097280" cy="1737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0" b="1">
                <a:solidFill>
                  <a:srgbClr val="046B38"/>
                </a:solidFill>
                <a:latin typeface="Arial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81912"/>
            <a:ext cx="265176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Bus service /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67128"/>
            <a:ext cx="26517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096495"/>
                </a:solidFill>
                <a:latin typeface="Arial"/>
              </a:rPr>
              <a:t>50% </a:t>
            </a:r>
            <a:r>
              <a:rPr sz="1300" b="0">
                <a:solidFill>
                  <a:srgbClr val="222222"/>
                </a:solidFill>
                <a:latin typeface="Arial"/>
              </a:rPr>
              <a:t>→ </a:t>
            </a:r>
            <a:r>
              <a:rPr sz="1400" b="1">
                <a:solidFill>
                  <a:srgbClr val="E88024"/>
                </a:solidFill>
                <a:latin typeface="Arial"/>
              </a:rPr>
              <a:t>57% </a:t>
            </a:r>
            <a:r>
              <a:rPr sz="1200" b="1">
                <a:solidFill>
                  <a:srgbClr val="78C143"/>
                </a:solidFill>
                <a:latin typeface="Arial"/>
              </a:rPr>
              <a:t> 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1546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“Bus service is irregular.”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1417320"/>
            <a:ext cx="361188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90472"/>
            <a:ext cx="1097280" cy="1737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0" b="1">
                <a:solidFill>
                  <a:srgbClr val="046B38"/>
                </a:solidFill>
                <a:latin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581912"/>
            <a:ext cx="265176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Traffic congestion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167128"/>
            <a:ext cx="26517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096495"/>
                </a:solidFill>
                <a:latin typeface="Arial"/>
              </a:rPr>
              <a:t>25% </a:t>
            </a:r>
            <a:r>
              <a:rPr sz="1300" b="0">
                <a:solidFill>
                  <a:srgbClr val="222222"/>
                </a:solidFill>
                <a:latin typeface="Arial"/>
              </a:rPr>
              <a:t>→ </a:t>
            </a:r>
            <a:r>
              <a:rPr sz="1400" b="1">
                <a:solidFill>
                  <a:srgbClr val="E88024"/>
                </a:solidFill>
                <a:latin typeface="Arial"/>
              </a:rPr>
              <a:t>23% </a:t>
            </a:r>
            <a:r>
              <a:rPr sz="1200" b="1">
                <a:solidFill>
                  <a:srgbClr val="7F7F7F"/>
                </a:solidFill>
                <a:latin typeface="Arial"/>
              </a:rPr>
              <a:t> 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651760"/>
            <a:ext cx="31546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“A lot of car traffic”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417320"/>
            <a:ext cx="361188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1490472"/>
            <a:ext cx="1097280" cy="1737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0" b="1">
                <a:solidFill>
                  <a:srgbClr val="046B38"/>
                </a:solidFill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61704" y="1581912"/>
            <a:ext cx="265176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Bus-lane backlash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1704" y="2167128"/>
            <a:ext cx="26517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096495"/>
                </a:solidFill>
                <a:latin typeface="Arial"/>
              </a:rPr>
              <a:t>5% </a:t>
            </a:r>
            <a:r>
              <a:rPr sz="1300" b="0">
                <a:solidFill>
                  <a:srgbClr val="222222"/>
                </a:solidFill>
                <a:latin typeface="Arial"/>
              </a:rPr>
              <a:t>→ </a:t>
            </a:r>
            <a:r>
              <a:rPr sz="1400" b="1">
                <a:solidFill>
                  <a:srgbClr val="E88024"/>
                </a:solidFill>
                <a:latin typeface="Arial"/>
              </a:rPr>
              <a:t>21% </a:t>
            </a:r>
            <a:r>
              <a:rPr sz="1200" b="1">
                <a:solidFill>
                  <a:srgbClr val="E43825"/>
                </a:solidFill>
                <a:latin typeface="Arial"/>
              </a:rPr>
              <a:t> 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651760"/>
            <a:ext cx="31546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“Bus lanes cause congestion.”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361188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050791"/>
            <a:ext cx="1097280" cy="1737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0" b="1">
                <a:solidFill>
                  <a:srgbClr val="046B38"/>
                </a:solidFill>
                <a:latin typeface="Arial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42231"/>
            <a:ext cx="265176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Parking / loading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27448"/>
            <a:ext cx="26517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096495"/>
                </a:solidFill>
                <a:latin typeface="Arial"/>
              </a:rPr>
              <a:t>12% </a:t>
            </a:r>
            <a:r>
              <a:rPr sz="1300" b="0">
                <a:solidFill>
                  <a:srgbClr val="222222"/>
                </a:solidFill>
                <a:latin typeface="Arial"/>
              </a:rPr>
              <a:t>→ </a:t>
            </a:r>
            <a:r>
              <a:rPr sz="1400" b="1">
                <a:solidFill>
                  <a:srgbClr val="E88024"/>
                </a:solidFill>
                <a:latin typeface="Arial"/>
              </a:rPr>
              <a:t>6% </a:t>
            </a:r>
            <a:r>
              <a:rPr sz="1200" b="1">
                <a:solidFill>
                  <a:srgbClr val="096495"/>
                </a:solidFill>
                <a:latin typeface="Arial"/>
              </a:rPr>
              <a:t> 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79"/>
            <a:ext cx="31546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“Too much traffic, double parking”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977639"/>
            <a:ext cx="361188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50791"/>
            <a:ext cx="1097280" cy="1737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0" b="1">
                <a:solidFill>
                  <a:srgbClr val="046B38"/>
                </a:solidFill>
                <a:latin typeface="Arial"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4142231"/>
            <a:ext cx="265176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Pedestrian / crossing 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4727448"/>
            <a:ext cx="26517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096495"/>
                </a:solidFill>
                <a:latin typeface="Arial"/>
              </a:rPr>
              <a:t>6% </a:t>
            </a:r>
            <a:r>
              <a:rPr sz="1300" b="0">
                <a:solidFill>
                  <a:srgbClr val="222222"/>
                </a:solidFill>
                <a:latin typeface="Arial"/>
              </a:rPr>
              <a:t>→ </a:t>
            </a:r>
            <a:r>
              <a:rPr sz="1400" b="1">
                <a:solidFill>
                  <a:srgbClr val="E88024"/>
                </a:solidFill>
                <a:latin typeface="Arial"/>
              </a:rPr>
              <a:t>4% </a:t>
            </a:r>
            <a:r>
              <a:rPr sz="1200" b="1">
                <a:solidFill>
                  <a:srgbClr val="096495"/>
                </a:solidFill>
                <a:latin typeface="Arial"/>
              </a:rPr>
              <a:t> 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2" y="5212079"/>
            <a:ext cx="31546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“Cars not following traffic signals”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93024" y="3977639"/>
            <a:ext cx="3611880" cy="233172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050791"/>
            <a:ext cx="1097280" cy="17373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9000" b="1">
                <a:solidFill>
                  <a:srgbClr val="046B38"/>
                </a:solidFill>
                <a:latin typeface="Arial"/>
              </a:rPr>
              <a:t>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4142231"/>
            <a:ext cx="265176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300" b="1">
                <a:solidFill>
                  <a:srgbClr val="046B38"/>
                </a:solidFill>
                <a:latin typeface="Arial"/>
              </a:rPr>
              <a:t>Side-street spillover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4727448"/>
            <a:ext cx="2651760" cy="36576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400" b="1">
                <a:solidFill>
                  <a:srgbClr val="096495"/>
                </a:solidFill>
                <a:latin typeface="Arial"/>
              </a:rPr>
              <a:t>1% </a:t>
            </a:r>
            <a:r>
              <a:rPr sz="1300" b="0">
                <a:solidFill>
                  <a:srgbClr val="222222"/>
                </a:solidFill>
                <a:latin typeface="Arial"/>
              </a:rPr>
              <a:t>→ </a:t>
            </a:r>
            <a:r>
              <a:rPr sz="1400" b="1">
                <a:solidFill>
                  <a:srgbClr val="E88024"/>
                </a:solidFill>
                <a:latin typeface="Arial"/>
              </a:rPr>
              <a:t>0% </a:t>
            </a:r>
            <a:r>
              <a:rPr sz="1200" b="1">
                <a:solidFill>
                  <a:srgbClr val="7F7F7F"/>
                </a:solidFill>
                <a:latin typeface="Arial"/>
              </a:rPr>
              <a:t> 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67344" y="5212079"/>
            <a:ext cx="3154680" cy="96012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Arial"/>
              </a:rPr>
              <a:t>“Trucks block traffic on Hillside a lot.”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6547104"/>
            <a:ext cx="8686800" cy="256032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800" b="0">
                <a:solidFill>
                  <a:srgbClr val="7F7F7F"/>
                </a:solidFill>
                <a:latin typeface="Arial"/>
              </a:rPr>
              <a:t>Source: NYC DOT Hillside Avenue intercept surveys. Open-ended responses categorized by keyword theme; a response may match multiple themes. Displayed values rounded.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6B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6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lIns="27432" rIns="27432" tIns="9144" bIns="9144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68680" y="1371600"/>
            <a:ext cx="2743200" cy="0"/>
          </a:xfrm>
          <a:prstGeom prst="bentConnector3">
            <a:avLst/>
          </a:prstGeom>
          <a:ln w="254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1828800"/>
            <a:ext cx="146304" cy="566928"/>
          </a:xfrm>
          <a:prstGeom prst="rect">
            <a:avLst/>
          </a:prstGeom>
          <a:solidFill>
            <a:srgbClr val="78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83080"/>
            <a:ext cx="10424160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Satisfaction improved.  </a:t>
            </a:r>
            <a:r>
              <a:rPr sz="1300" b="0">
                <a:solidFill>
                  <a:srgbClr val="DDEEE2"/>
                </a:solidFill>
                <a:latin typeface="Arial"/>
              </a:rPr>
              <a:t>Net bus-trip satisfaction rose +18 → +41 (+23 pts); dissatisfaction fell 28% → 20%.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761487"/>
            <a:ext cx="146304" cy="566928"/>
          </a:xfrm>
          <a:prstGeom prst="rect">
            <a:avLst/>
          </a:prstGeom>
          <a:solidFill>
            <a:srgbClr val="78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715768"/>
            <a:ext cx="10424160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But bus-lane backlash grew.  </a:t>
            </a:r>
            <a:r>
              <a:rPr sz="1300" b="0">
                <a:solidFill>
                  <a:srgbClr val="DDEEE2"/>
                </a:solidFill>
                <a:latin typeface="Arial"/>
              </a:rPr>
              <a:t>Open-ended complaints tying congestion/tickets to the bus lane jumped 5% → 21% — the fastest-rising theme.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94176"/>
            <a:ext cx="146304" cy="566928"/>
          </a:xfrm>
          <a:prstGeom prst="rect">
            <a:avLst/>
          </a:prstGeom>
          <a:solidFill>
            <a:srgbClr val="78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648456"/>
            <a:ext cx="10424160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Ridership patterns shifted.  </a:t>
            </a:r>
            <a:r>
              <a:rPr sz="1300" b="0">
                <a:solidFill>
                  <a:srgbClr val="DDEEE2"/>
                </a:solidFill>
                <a:latin typeface="Arial"/>
              </a:rPr>
              <a:t>Q1 usage nearly doubled and Q2 rose while Q43/Q30 fell; subway access dropped 44% → 33% as walking rose.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26864"/>
            <a:ext cx="146304" cy="566928"/>
          </a:xfrm>
          <a:prstGeom prst="rect">
            <a:avLst/>
          </a:prstGeom>
          <a:solidFill>
            <a:srgbClr val="78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581144"/>
            <a:ext cx="10424160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Wait time is the sticky issue.  </a:t>
            </a:r>
            <a:r>
              <a:rPr sz="1300" b="0">
                <a:solidFill>
                  <a:srgbClr val="DDEEE2"/>
                </a:solidFill>
                <a:latin typeface="Arial"/>
              </a:rPr>
              <a:t>“Waited too long” held at 25% and “more than 15 min to park” rose — reliability and curb access remain the actionable gaps.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559552"/>
            <a:ext cx="146304" cy="566928"/>
          </a:xfrm>
          <a:prstGeom prst="rect">
            <a:avLst/>
          </a:prstGeom>
          <a:solidFill>
            <a:srgbClr val="78C1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513832"/>
            <a:ext cx="10424160" cy="914400"/>
          </a:xfrm>
          <a:prstGeom prst="rect">
            <a:avLst/>
          </a:prstGeom>
          <a:noFill/>
        </p:spPr>
        <p:txBody>
          <a:bodyPr wrap="square" lIns="27432" rIns="27432" tIns="9144" bIns="9144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Read pre/post with care.  </a:t>
            </a:r>
            <a:r>
              <a:rPr sz="1300" b="0">
                <a:solidFill>
                  <a:srgbClr val="DDEEE2"/>
                </a:solidFill>
                <a:latin typeface="Arial"/>
              </a:rPr>
              <a:t>The 2026 sample skews older and smaller; use subgroup filtering before attributing shifts to the bus lane.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